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FDBB8D-0518-41AC-9948-D097B29AAC92}">
  <a:tblStyle styleId="{59FDBB8D-0518-41AC-9948-D097B29AAC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3" Type="http://schemas.openxmlformats.org/officeDocument/2006/relationships/image" Target="../media/image21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5" Type="http://schemas.openxmlformats.org/officeDocument/2006/relationships/image" Target="../media/image23.png"/><Relationship Id="rId14" Type="http://schemas.openxmlformats.org/officeDocument/2006/relationships/image" Target="../media/image27.png"/><Relationship Id="rId17" Type="http://schemas.openxmlformats.org/officeDocument/2006/relationships/image" Target="../media/image24.png"/><Relationship Id="rId16" Type="http://schemas.openxmlformats.org/officeDocument/2006/relationships/image" Target="../media/image37.png"/><Relationship Id="rId5" Type="http://schemas.openxmlformats.org/officeDocument/2006/relationships/image" Target="../media/image4.png"/><Relationship Id="rId19" Type="http://schemas.openxmlformats.org/officeDocument/2006/relationships/image" Target="../media/image28.png"/><Relationship Id="rId6" Type="http://schemas.openxmlformats.org/officeDocument/2006/relationships/image" Target="../media/image10.png"/><Relationship Id="rId18" Type="http://schemas.openxmlformats.org/officeDocument/2006/relationships/image" Target="../media/image26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22.png"/><Relationship Id="rId6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9.png"/><Relationship Id="rId13" Type="http://schemas.openxmlformats.org/officeDocument/2006/relationships/image" Target="../media/image34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8.png"/><Relationship Id="rId1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Relationship Id="rId6" Type="http://schemas.openxmlformats.org/officeDocument/2006/relationships/image" Target="../media/image43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029200"/>
            <a:ext cx="110490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046089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HYDERABAD EVENT PLAN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320379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 KABADDI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MANAGEMENT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8252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Professional Sports Event Management Portfolio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4197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PREPARED BY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77215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Nithin Pillalamarri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6029325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B.Tech CSE (AI) | Class of 2026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1524000" y="-1333500"/>
            <a:ext cx="5715000" cy="804267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0341"/>
            <a:ext cx="5381625" cy="3607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020341"/>
            <a:ext cx="5381625" cy="3607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4110037"/>
            <a:ext cx="460057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2410866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Primary Objective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2906166"/>
            <a:ext cx="46005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design and execute a comprehensive Pro Kabaddi League event framework from inception to completion, ensuring elite operational standards.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2410866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Planning Pillars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47775" y="4252912"/>
            <a:ext cx="1209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45 Days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Project Duration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114800" y="4252912"/>
            <a:ext cx="1162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Gachibowli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Selected Venue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67525" y="2906166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Integrated Venue &amp; Capacity Planning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67525" y="3294757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Dynamic Budgeting &amp; Financial Control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67525" y="3683347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Vendor Procurement &amp; Management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67525" y="4071937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Workforce Deployment &amp; Shift Logic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67525" y="4460527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On-Ground Match Day Operations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67525" y="4849117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Proactive Risk Management Protocols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629400" y="290616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29400" y="32947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29400" y="368334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29400" y="407193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29400" y="446052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629400" y="484911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Strategic Overview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15"/>
          <p:cNvGraphicFramePr/>
          <p:nvPr/>
        </p:nvGraphicFramePr>
        <p:xfrm>
          <a:off x="983600" y="1796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{59FDBB8D-0518-41AC-9948-D097B29AAC92}</a:tableStyleId>
              </a:tblPr>
              <a:tblGrid>
                <a:gridCol w="1661050"/>
                <a:gridCol w="8745375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Telugu Titans vs Bengaluru Bulls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Gachibowli Indoor Stadium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Audience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6,500 Spectators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Budget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₹39.6 Lakhs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Staffing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200 Professional Personnel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Vendors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 Specialised Categories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5"/>
          <p:cNvSpPr/>
          <p:nvPr/>
        </p:nvSpPr>
        <p:spPr>
          <a:xfrm>
            <a:off x="869863" y="1910862"/>
            <a:ext cx="28500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69838" y="2738137"/>
            <a:ext cx="28500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69813" y="3339762"/>
            <a:ext cx="28500" cy="514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69900" y="3960437"/>
            <a:ext cx="28500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69863" y="4787862"/>
            <a:ext cx="28500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Event Core Particulars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62075"/>
            <a:ext cx="3555950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362075"/>
            <a:ext cx="3555950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362075"/>
            <a:ext cx="3556099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22265"/>
            <a:ext cx="3555950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7950" y="3122265"/>
            <a:ext cx="3555950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4400" y="3122265"/>
            <a:ext cx="3556099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82455"/>
            <a:ext cx="3555950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17950" y="4882455"/>
            <a:ext cx="3555950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64400" y="4882455"/>
            <a:ext cx="3556099" cy="1569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06525" y="155257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82626" y="1933575"/>
            <a:ext cx="33336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Parking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2428875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Gate 1 &amp; 2 Access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52976" y="155257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4429076" y="1933575"/>
            <a:ext cx="33336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Security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508450" y="2428875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Multi-tier Scanning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80525" y="155257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175523" y="1933575"/>
            <a:ext cx="33338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Ticketing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254900" y="2428875"/>
            <a:ext cx="3175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Online/Box Office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225575" y="331276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82626" y="3693765"/>
            <a:ext cx="33336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Food Court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62000" y="4189065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Public Amenities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914876" y="331276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4429076" y="3693765"/>
            <a:ext cx="33336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Seating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508450" y="4189065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Zone-wise Entry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699575" y="331276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8175523" y="3693765"/>
            <a:ext cx="333385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Arena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254900" y="4189065"/>
            <a:ext cx="3175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FOP Field of Play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206525" y="507295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682626" y="5453955"/>
            <a:ext cx="33336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Medical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62000" y="5949255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Emergency Bay</a:t>
            </a:r>
            <a:endParaRPr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933926" y="507295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4429076" y="5453955"/>
            <a:ext cx="33336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Control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508450" y="5949255"/>
            <a:ext cx="3174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Event Operations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254900" y="5072955"/>
            <a:ext cx="31750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Logic: Linear flow ensures zero bottlenecks &amp; safe evacuation.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Venue Layout and Flow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6025" y="1681162"/>
            <a:ext cx="53244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5532"/>
            <a:ext cx="5248275" cy="2830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91992"/>
            <a:ext cx="52482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719262"/>
            <a:ext cx="52482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962025" y="2266057"/>
            <a:ext cx="469058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Financial Highlights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57250" y="5134867"/>
            <a:ext cx="1352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₹38.7L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Actual Expenditure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4924425" y="5134867"/>
            <a:ext cx="60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2.3%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Variance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200150" y="276135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Budget strictly maintained within ₹39.6L limits.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200150" y="314994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cost monitoring via integrated dashboard.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200150" y="353853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Absolute financial transparency for stakeholders.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200150" y="392712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Contingency reserves allocated for critical ops.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62025" y="27613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62025" y="314994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62025" y="353853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962025" y="392712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Budget Management Analysis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7" title="Screenshot (3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6325" y="1644000"/>
            <a:ext cx="5446075" cy="436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81162"/>
            <a:ext cx="53244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2039391"/>
            <a:ext cx="5248275" cy="2830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734524"/>
            <a:ext cx="5248276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6372225" y="5060602"/>
            <a:ext cx="52482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Ensuring 100% service level agreement (SLA) compliance for broadcast readiness.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762750" y="2429916"/>
            <a:ext cx="469058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Procurement Metrics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000875" y="2925216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10 Critical Vendor Categories Managed.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000875" y="331380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End-to-end Contract Lifecycle Monitoring.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7000875" y="370239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Rigorous Payment &amp; Advance Tracking.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7000875" y="409098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Quarterly Performance Evaluation Scorecards.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762750" y="292521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762750" y="331380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762750" y="370239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762750" y="409098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Strategic Vendor Management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8" title="Screenshot (4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" y="2335575"/>
            <a:ext cx="5248275" cy="30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6025" y="1681162"/>
            <a:ext cx="53244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8932"/>
            <a:ext cx="5248275" cy="2830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19262"/>
            <a:ext cx="52482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962025" y="2799457"/>
            <a:ext cx="469058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Deployment Logic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200150" y="329475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200 Professional Personnel deployed across zones.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200150" y="368334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11 Specialised Departments (Security to Medical).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200150" y="407193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Optimised Morning &amp; Afternoon shift rotations.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200150" y="446052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Geo-fenced Zone-wise Allocation for accountability.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962025" y="32947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962025" y="368334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962025" y="407193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962025" y="446052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Workforce Deployment Plan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9" title="Screenshot (5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4275" y="2264563"/>
            <a:ext cx="5407975" cy="31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81162"/>
            <a:ext cx="53244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2408932"/>
            <a:ext cx="5248275" cy="2830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719262"/>
            <a:ext cx="52482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6762750" y="2799457"/>
            <a:ext cx="469058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47-Day Critical Path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7000875" y="329475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Phase 1: Pre-Event Strategic Planning (Day 1-20).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000875" y="368334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Phase 2: Venue Setup &amp; Branding (Day 21-44).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000875" y="407193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Phase 3: Match Day Operations (Day 45).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000875" y="4460527"/>
            <a:ext cx="4229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Phase 4: Closure &amp; De-mobilisation (Day 46-47).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762750" y="329475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762750" y="368334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762750" y="407193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762750" y="446052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A580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Roadmap and Timeline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0" title="Screenshot (6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" y="2252750"/>
            <a:ext cx="5248274" cy="313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21"/>
          <p:cNvGraphicFramePr/>
          <p:nvPr/>
        </p:nvGraphicFramePr>
        <p:xfrm>
          <a:off x="571500" y="198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{59FDBB8D-0518-41AC-9948-D097B29AAC92}</a:tableStyleId>
              </a:tblPr>
              <a:tblGrid>
                <a:gridCol w="3744375"/>
                <a:gridCol w="7304625"/>
              </a:tblGrid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A580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Potential Risk Factor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EA580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Mitigation &amp; Solution 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Crowd Surge / Congestion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Advanced Security Tier 3 Deployment &amp; Barrier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Medical Emergencies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On-site Dedicated Ambulance &amp; 10 Medical Stationed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Fire Hazards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Comprehensive Evacuation Plan &amp; SATS Fire Safety Audit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Power Failure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Triple Backup Industrial Generator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Vendor Supply Delay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Pre-vetted Secondary Backup Vendor Contracts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21"/>
          <p:cNvSpPr/>
          <p:nvPr/>
        </p:nvSpPr>
        <p:spPr>
          <a:xfrm>
            <a:off x="571500" y="2595562"/>
            <a:ext cx="3744366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315866" y="2595562"/>
            <a:ext cx="7304633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71500" y="2709862"/>
            <a:ext cx="28575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71500" y="3300412"/>
            <a:ext cx="28575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71500" y="3890962"/>
            <a:ext cx="28575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71500" y="4481512"/>
            <a:ext cx="28575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71500" y="5072062"/>
            <a:ext cx="28575" cy="495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Risk Mitigation Strategy</a:t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04057"/>
            <a:ext cx="3555950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504057"/>
            <a:ext cx="3555950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504057"/>
            <a:ext cx="3556099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19537"/>
            <a:ext cx="3555950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7950" y="3919537"/>
            <a:ext cx="3555950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4400" y="3919537"/>
            <a:ext cx="3556099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06525" y="178980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782638" y="2361307"/>
            <a:ext cx="31336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Strategic Report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857250" y="2856607"/>
            <a:ext cx="2984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Comprehensive event framework documentation.</a:t>
            </a:r>
            <a:endParaRPr/>
          </a:p>
        </p:txBody>
      </p:sp>
      <p:pic>
        <p:nvPicPr>
          <p:cNvPr descr="image.png" id="277" name="Google Shape;27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351" y="178980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4529089" y="2361307"/>
            <a:ext cx="31336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Budget Engine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4603700" y="2856607"/>
            <a:ext cx="2984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financial variance dashboard.</a:t>
            </a:r>
            <a:endParaRPr/>
          </a:p>
        </p:txBody>
      </p:sp>
      <p:pic>
        <p:nvPicPr>
          <p:cNvPr descr="image.png" id="280" name="Google Shape;280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04325" y="178980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8275535" y="2361307"/>
            <a:ext cx="313382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Vendor Tracker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8350150" y="2856607"/>
            <a:ext cx="29845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Centralised procurement &amp; SLA monitor.</a:t>
            </a:r>
            <a:endParaRPr/>
          </a:p>
        </p:txBody>
      </p:sp>
      <p:pic>
        <p:nvPicPr>
          <p:cNvPr descr="image.png" id="283" name="Google Shape;283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11275" y="42052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782638" y="4776787"/>
            <a:ext cx="31336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Staffing Plan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857250" y="5272087"/>
            <a:ext cx="2984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Dynamic workforce deployment matrix.</a:t>
            </a:r>
            <a:endParaRPr/>
          </a:p>
        </p:txBody>
      </p:sp>
      <p:pic>
        <p:nvPicPr>
          <p:cNvPr descr="image.png" id="286" name="Google Shape;286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29163" y="42052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4529089" y="4776787"/>
            <a:ext cx="313367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Gantt Roadmap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603700" y="5272087"/>
            <a:ext cx="2984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Day-by-day operational project timeline.</a:t>
            </a:r>
            <a:endParaRPr/>
          </a:p>
        </p:txBody>
      </p:sp>
      <p:pic>
        <p:nvPicPr>
          <p:cNvPr descr="image.png" id="289" name="Google Shape;289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75762" y="42052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8275535" y="4776787"/>
            <a:ext cx="313382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 Repository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350150" y="5272087"/>
            <a:ext cx="29845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GitHub hosted project data &amp; code.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Project Deliverables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7754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1114425" y="2429916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Sports Planning: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Mastery of high-stakes indoor stadium logistics.</a:t>
            </a:r>
            <a:endParaRPr/>
          </a:p>
        </p:txBody>
      </p:sp>
      <p:pic>
        <p:nvPicPr>
          <p:cNvPr descr="image.png" id="300" name="Google Shape;3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7754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6791325" y="2429916"/>
            <a:ext cx="4638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Vendor Dynamics: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Managing multi-category service procurement.</a:t>
            </a:r>
            <a:endParaRPr/>
          </a:p>
        </p:txBody>
      </p:sp>
      <p:pic>
        <p:nvPicPr>
          <p:cNvPr descr="image.png" id="302" name="Google Shape;3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9762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1114425" y="354999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Financial Control: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Maintaining ₹39.6L budget with &lt; 3% variance.</a:t>
            </a:r>
            <a:endParaRPr/>
          </a:p>
        </p:txBody>
      </p:sp>
      <p:pic>
        <p:nvPicPr>
          <p:cNvPr descr="image.png" id="304" name="Google Shape;30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59762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6734175" y="354999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Ops Excellence: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Real-time management of 200+ on-ground staff.</a:t>
            </a:r>
            <a:endParaRPr/>
          </a:p>
        </p:txBody>
      </p:sp>
      <p:pic>
        <p:nvPicPr>
          <p:cNvPr descr="image.png" id="306" name="Google Shape;30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71770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1114425" y="467007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Risk Mitigation: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Drafting disaster recovery and backup protocols.</a:t>
            </a:r>
            <a:endParaRPr/>
          </a:p>
        </p:txBody>
      </p:sp>
      <p:pic>
        <p:nvPicPr>
          <p:cNvPr descr="image.png" id="308" name="Google Shape;30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71770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6734175" y="4670077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Analytics: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Creating Excel-driven dashboards for reporting.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Professional Key Learnings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381625"/>
            <a:ext cx="1104900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295275" y="3198614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A580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571500" y="4322564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571500" y="577215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Prepared By: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Nithin Pillalamarri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571500" y="6029325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Sports Management Portfolio |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